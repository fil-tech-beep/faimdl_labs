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b540695e3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b540695e3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b5474df5a2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b5474df5a2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ef780c4c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ef780c4c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3fd2f52a6e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3fd2f52a6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3fd2f52a6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3fd2f52a6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0990ccd9e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40990ccd9e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0990ccd9e_4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40990ccd9e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0990ccd9e_4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40990ccd9e_4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0990ccd9e_4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0990ccd9e_4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0990ccd9e_4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40990ccd9e_4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3fd2f52a6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3fd2f52a6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3fd2f52a6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3fd2f52a6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4174b68cc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4174b68cc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411c03700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411c03700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4174b68cc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4174b68cc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4174b68cc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4174b68cc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4174b68ccc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4174b68cc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4174b68ccc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4174b68ccc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b5474df5a2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b5474df5a2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hyperlink" Target="https://education.github.com/git-cheat-sheet-education.pdf" TargetMode="External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github.com/en/get-started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27.png"/><Relationship Id="rId5" Type="http://schemas.openxmlformats.org/officeDocument/2006/relationships/hyperlink" Target="https://packaging.python.org/en/latest/guides/installing-using-pip-and-virtual-environments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FarInHeight/lab-project-skeleton" TargetMode="External"/><Relationship Id="rId4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Relationship Id="rId7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Relationship Id="rId4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github.com/FarInHeight/lab-project-skeleton" TargetMode="External"/><Relationship Id="rId4" Type="http://schemas.openxmlformats.org/officeDocument/2006/relationships/image" Target="../media/image15.png"/><Relationship Id="rId5" Type="http://schemas.openxmlformats.org/officeDocument/2006/relationships/hyperlink" Target="https://colab.research.google.com/drive/1sLHv8x3p_SOI2Y6wo5sf1XaId329HxH4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984976" y="1062075"/>
            <a:ext cx="3982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PyTorch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Bootcamp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7775" y="1550125"/>
            <a:ext cx="1407850" cy="140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100" y="163325"/>
            <a:ext cx="1367327" cy="60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76675" y="-47975"/>
            <a:ext cx="1367327" cy="1024827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1324800" y="3114675"/>
            <a:ext cx="64944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it"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Fundamentals of Artificial Intelligence,</a:t>
            </a:r>
            <a:endParaRPr b="1"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it"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Machine and Deep Learning</a:t>
            </a:r>
            <a:endParaRPr b="1"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t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A. A. 2025/26</a:t>
            </a:r>
            <a:endParaRPr sz="1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1" lang="it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Slide credits:</a:t>
            </a:r>
            <a:r>
              <a:rPr i="1" lang="it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Chiara Plizzari</a:t>
            </a:r>
            <a:endParaRPr i="1" sz="1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1" lang="it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Teaching Assistants:</a:t>
            </a:r>
            <a:r>
              <a:rPr i="1" lang="it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Davide Sferrazza, Stephany Ortuño Chanelo</a:t>
            </a:r>
            <a:endParaRPr i="1" sz="1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D85C6"/>
            </a:gs>
            <a:gs pos="100000">
              <a:srgbClr val="FF9900"/>
            </a:gs>
          </a:gsLst>
          <a:lin ang="2700006" scaled="0"/>
        </a:gra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How to setup a project from scratch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Lesson 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20825"/>
            <a:ext cx="8839200" cy="317029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PyTorch Workflow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/>
          <p:nvPr/>
        </p:nvSpPr>
        <p:spPr>
          <a:xfrm rot="-5400000">
            <a:off x="6354325" y="1480475"/>
            <a:ext cx="938100" cy="393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5722825" y="346625"/>
            <a:ext cx="2548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keep track of your changes/results?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320750" y="1083650"/>
            <a:ext cx="6944400" cy="8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it" sz="1800">
                <a:solidFill>
                  <a:schemeClr val="dk2"/>
                </a:solidFill>
              </a:rPr>
              <a:t>Cloud-based platform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it" sz="1800">
                <a:solidFill>
                  <a:schemeClr val="dk2"/>
                </a:solidFill>
              </a:rPr>
              <a:t>Born for collaboration and version control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1275" y="396400"/>
            <a:ext cx="3596251" cy="418264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549675" y="2019575"/>
            <a:ext cx="4113300" cy="21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Repositories are cloud-saved folders saving remotely all your files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134950" y="4397375"/>
            <a:ext cx="4874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u="sng">
                <a:solidFill>
                  <a:schemeClr val="hlink"/>
                </a:solidFill>
                <a:hlinkClick r:id="rId4"/>
              </a:rPr>
              <a:t>https://education.github.com/git-cheat-sheet-education.pdf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9875" y="469025"/>
            <a:ext cx="548700" cy="5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Github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0" name="Google Shape;90;p17"/>
          <p:cNvSpPr txBox="1"/>
          <p:nvPr/>
        </p:nvSpPr>
        <p:spPr>
          <a:xfrm>
            <a:off x="903425" y="1256925"/>
            <a:ext cx="68541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it" sz="1800">
                <a:solidFill>
                  <a:schemeClr val="dk2"/>
                </a:solidFill>
              </a:rPr>
              <a:t>Clone</a:t>
            </a:r>
            <a:r>
              <a:rPr lang="it" sz="1800">
                <a:solidFill>
                  <a:schemeClr val="dk2"/>
                </a:solidFill>
              </a:rPr>
              <a:t>: copies a repository to your machine (execute the first time)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it" sz="1800">
                <a:solidFill>
                  <a:schemeClr val="dk2"/>
                </a:solidFill>
              </a:rPr>
              <a:t>Status</a:t>
            </a:r>
            <a:r>
              <a:rPr lang="it" sz="1800">
                <a:solidFill>
                  <a:schemeClr val="dk2"/>
                </a:solidFill>
              </a:rPr>
              <a:t>: tells us about the status of our repo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it" sz="1800">
                <a:solidFill>
                  <a:schemeClr val="dk2"/>
                </a:solidFill>
              </a:rPr>
              <a:t>Add</a:t>
            </a:r>
            <a:r>
              <a:rPr lang="it" sz="1800">
                <a:solidFill>
                  <a:schemeClr val="dk2"/>
                </a:solidFill>
              </a:rPr>
              <a:t>: adds the local changes to the “to send remotely” files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it" sz="1800">
                <a:solidFill>
                  <a:schemeClr val="dk2"/>
                </a:solidFill>
              </a:rPr>
              <a:t>Commit</a:t>
            </a:r>
            <a:r>
              <a:rPr lang="it" sz="1800">
                <a:solidFill>
                  <a:schemeClr val="dk2"/>
                </a:solidFill>
              </a:rPr>
              <a:t>: prepares “the package” of changes to send (and let you add a </a:t>
            </a:r>
            <a:r>
              <a:rPr lang="it" sz="1800">
                <a:solidFill>
                  <a:schemeClr val="dk2"/>
                </a:solidFill>
              </a:rPr>
              <a:t>message, representing what you did)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it" sz="1800">
                <a:solidFill>
                  <a:schemeClr val="dk2"/>
                </a:solidFill>
              </a:rPr>
              <a:t>Push</a:t>
            </a:r>
            <a:r>
              <a:rPr lang="it" sz="1800">
                <a:solidFill>
                  <a:schemeClr val="dk2"/>
                </a:solidFill>
              </a:rPr>
              <a:t>: Really pushes everything to your remote repo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it" sz="1800">
                <a:solidFill>
                  <a:schemeClr val="dk2"/>
                </a:solidFill>
              </a:rPr>
              <a:t>Pull</a:t>
            </a:r>
            <a:r>
              <a:rPr lang="it" sz="1800">
                <a:solidFill>
                  <a:schemeClr val="dk2"/>
                </a:solidFill>
              </a:rPr>
              <a:t>: sync your local changes with the changes happened in the remote repo (useful to bring in your local folder the changes a team member pushed)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903425" y="9476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Main commands:</a:t>
            </a: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5008025" y="4659925"/>
            <a:ext cx="336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u="sng">
                <a:solidFill>
                  <a:schemeClr val="hlink"/>
                </a:solidFill>
                <a:hlinkClick r:id="rId3"/>
              </a:rPr>
              <a:t>https://docs.github.com/en/get-started</a:t>
            </a:r>
            <a:endParaRPr/>
          </a:p>
        </p:txBody>
      </p: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454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Github</a:t>
            </a:r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9875" y="4690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Github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557100" y="1671250"/>
            <a:ext cx="52197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git clone &lt;repo&gt;</a:t>
            </a:r>
            <a:endParaRPr b="1" i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For every change you make:</a:t>
            </a:r>
            <a:endParaRPr b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… local changes …</a:t>
            </a:r>
            <a:endParaRPr b="1" i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git add .</a:t>
            </a:r>
            <a:endParaRPr b="1" i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git commit -m ‘Explain message’</a:t>
            </a:r>
            <a:endParaRPr b="1" i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git push</a:t>
            </a:r>
            <a:endParaRPr b="1" i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311700" y="1209550"/>
            <a:ext cx="439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Typical Workflow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311700" y="4319950"/>
            <a:ext cx="7951800" cy="7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Pushing </a:t>
            </a:r>
            <a:r>
              <a:rPr lang="it" sz="1800">
                <a:solidFill>
                  <a:schemeClr val="dk2"/>
                </a:solidFill>
              </a:rPr>
              <a:t>s</a:t>
            </a:r>
            <a:r>
              <a:rPr lang="it" sz="1800">
                <a:solidFill>
                  <a:schemeClr val="dk2"/>
                </a:solidFill>
              </a:rPr>
              <a:t>mall, incremental changes is almost universally considered better than pushing large, sweeping changes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4" name="Google Shape;104;p18"/>
          <p:cNvPicPr preferRelativeResize="0"/>
          <p:nvPr/>
        </p:nvPicPr>
        <p:blipFill rotWithShape="1">
          <a:blip r:embed="rId3">
            <a:alphaModFix/>
          </a:blip>
          <a:srcRect b="42738" l="2158" r="2377" t="17447"/>
          <a:stretch/>
        </p:blipFill>
        <p:spPr>
          <a:xfrm>
            <a:off x="4707300" y="977950"/>
            <a:ext cx="3905252" cy="200820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5" name="Google Shape;10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9875" y="4690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How to keep track of your results?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Wandb: record all your results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18" name="Google Shape;1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7075" y="1470200"/>
            <a:ext cx="7558576" cy="336857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0"/>
          <p:cNvSpPr txBox="1"/>
          <p:nvPr/>
        </p:nvSpPr>
        <p:spPr>
          <a:xfrm>
            <a:off x="422750" y="1017725"/>
            <a:ext cx="8112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2"/>
                </a:solidFill>
              </a:rPr>
              <a:t>Wandb is a ML development platform</a:t>
            </a:r>
            <a:r>
              <a:rPr lang="it">
                <a:solidFill>
                  <a:schemeClr val="dk2"/>
                </a:solidFill>
              </a:rPr>
              <a:t> that allows users to track and visualize various aspects of their model training process in real-time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875" y="4622200"/>
            <a:ext cx="1698650" cy="43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Never lose your progress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27" name="Google Shape;12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5025" y="1721575"/>
            <a:ext cx="5393952" cy="321422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1"/>
          <p:cNvSpPr txBox="1"/>
          <p:nvPr/>
        </p:nvSpPr>
        <p:spPr>
          <a:xfrm>
            <a:off x="396350" y="1017725"/>
            <a:ext cx="82221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Save everything you need to debug, compare and reproduce your models — architecture, hyperparameters, weights, model predictions, GPU usage, git commits, and even datasets — with a few lines of code.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875" y="4622200"/>
            <a:ext cx="1698650" cy="43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Track your model training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36" name="Google Shape;13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2413" y="1080375"/>
            <a:ext cx="6739176" cy="3333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875" y="4622200"/>
            <a:ext cx="1698650" cy="43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Track your model training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44" name="Google Shape;1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4" cy="3133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875" y="4622200"/>
            <a:ext cx="1698650" cy="43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Virtual Envs and Pip Package Manager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52" name="Google Shape;15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0400" y="1551950"/>
            <a:ext cx="5978637" cy="3292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975" y="2374925"/>
            <a:ext cx="1819275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4"/>
          <p:cNvSpPr txBox="1"/>
          <p:nvPr/>
        </p:nvSpPr>
        <p:spPr>
          <a:xfrm>
            <a:off x="349700" y="1687850"/>
            <a:ext cx="2111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System’s Python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190050" y="896950"/>
            <a:ext cx="8763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  <a:highlight>
                  <a:schemeClr val="lt1"/>
                </a:highlight>
              </a:rPr>
              <a:t>A virtual environment is a tool that helps to keep dependencies required by different projects separate by creating isolated Python environments for each project. </a:t>
            </a: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156" name="Google Shape;156;p24"/>
          <p:cNvSpPr txBox="1"/>
          <p:nvPr/>
        </p:nvSpPr>
        <p:spPr>
          <a:xfrm>
            <a:off x="574650" y="4767600"/>
            <a:ext cx="785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u="sng">
                <a:solidFill>
                  <a:schemeClr val="hlink"/>
                </a:solidFill>
                <a:hlinkClick r:id="rId5"/>
              </a:rPr>
              <a:t>https://packaging.python.org/en/latest/guides/installing-using-pip-and-virtual-environments/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Colab special commands</a:t>
            </a:r>
            <a:endParaRPr/>
          </a:p>
        </p:txBody>
      </p:sp>
      <p:sp>
        <p:nvSpPr>
          <p:cNvPr id="162" name="Google Shape;16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63" name="Google Shape;1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000" y="1959563"/>
            <a:ext cx="7100200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5"/>
          <p:cNvSpPr txBox="1"/>
          <p:nvPr/>
        </p:nvSpPr>
        <p:spPr>
          <a:xfrm>
            <a:off x="586825" y="1325575"/>
            <a:ext cx="6569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! &lt;command&gt;: executes a bash command (e.g ls, cp, mv, git..) in a new, temporary subshell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5" name="Google Shape;165;p25"/>
          <p:cNvSpPr txBox="1"/>
          <p:nvPr/>
        </p:nvSpPr>
        <p:spPr>
          <a:xfrm>
            <a:off x="638275" y="2398725"/>
            <a:ext cx="7345200" cy="9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% &lt;command&gt;: executes a special command (e.g. cd) for the current session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6" name="Google Shape;16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9650" y="3101120"/>
            <a:ext cx="278130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30675" y="194883"/>
            <a:ext cx="1072992" cy="107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73" name="Google Shape;173;p26"/>
          <p:cNvSpPr txBox="1"/>
          <p:nvPr/>
        </p:nvSpPr>
        <p:spPr>
          <a:xfrm>
            <a:off x="284750" y="147050"/>
            <a:ext cx="71979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100">
                <a:solidFill>
                  <a:schemeClr val="dk2"/>
                </a:solidFill>
              </a:rPr>
              <a:t>Goal of this lab:</a:t>
            </a:r>
            <a:br>
              <a:rPr lang="it" sz="1800">
                <a:solidFill>
                  <a:schemeClr val="dk2"/>
                </a:solidFill>
              </a:rPr>
            </a:br>
            <a:br>
              <a:rPr lang="it" sz="1800">
                <a:solidFill>
                  <a:schemeClr val="dk2"/>
                </a:solidFill>
              </a:rPr>
            </a:br>
            <a:r>
              <a:rPr lang="it" sz="1800">
                <a:solidFill>
                  <a:schemeClr val="dk2"/>
                </a:solidFill>
              </a:rPr>
              <a:t>Use Github, Wandb and Pip to setup a structured project. 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74" name="Google Shape;174;p26"/>
          <p:cNvCxnSpPr>
            <a:endCxn id="175" idx="1"/>
          </p:cNvCxnSpPr>
          <p:nvPr/>
        </p:nvCxnSpPr>
        <p:spPr>
          <a:xfrm flipH="1" rot="10800000">
            <a:off x="5627925" y="714575"/>
            <a:ext cx="1591500" cy="109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26"/>
          <p:cNvCxnSpPr>
            <a:endCxn id="177" idx="1"/>
          </p:cNvCxnSpPr>
          <p:nvPr/>
        </p:nvCxnSpPr>
        <p:spPr>
          <a:xfrm flipH="1" rot="10800000">
            <a:off x="5640825" y="1357200"/>
            <a:ext cx="1743000" cy="69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p26"/>
          <p:cNvCxnSpPr>
            <a:endCxn id="179" idx="1"/>
          </p:cNvCxnSpPr>
          <p:nvPr/>
        </p:nvCxnSpPr>
        <p:spPr>
          <a:xfrm flipH="1" rot="10800000">
            <a:off x="5621250" y="1981925"/>
            <a:ext cx="19203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26"/>
          <p:cNvCxnSpPr>
            <a:endCxn id="181" idx="1"/>
          </p:cNvCxnSpPr>
          <p:nvPr/>
        </p:nvCxnSpPr>
        <p:spPr>
          <a:xfrm>
            <a:off x="5628150" y="2552475"/>
            <a:ext cx="1921200" cy="28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" name="Google Shape;182;p26"/>
          <p:cNvCxnSpPr>
            <a:stCxn id="183" idx="3"/>
          </p:cNvCxnSpPr>
          <p:nvPr/>
        </p:nvCxnSpPr>
        <p:spPr>
          <a:xfrm>
            <a:off x="5633284" y="2749425"/>
            <a:ext cx="1655100" cy="58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" name="Google Shape;184;p26"/>
          <p:cNvCxnSpPr/>
          <p:nvPr/>
        </p:nvCxnSpPr>
        <p:spPr>
          <a:xfrm>
            <a:off x="5621675" y="3515950"/>
            <a:ext cx="1635900" cy="73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p26"/>
          <p:cNvCxnSpPr/>
          <p:nvPr/>
        </p:nvCxnSpPr>
        <p:spPr>
          <a:xfrm>
            <a:off x="5328150" y="4217850"/>
            <a:ext cx="87900" cy="6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" name="Google Shape;175;p26"/>
          <p:cNvSpPr txBox="1"/>
          <p:nvPr/>
        </p:nvSpPr>
        <p:spPr>
          <a:xfrm>
            <a:off x="7219425" y="437525"/>
            <a:ext cx="180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</a:rPr>
              <a:t>Here you will save your saved models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77" name="Google Shape;177;p26"/>
          <p:cNvSpPr txBox="1"/>
          <p:nvPr/>
        </p:nvSpPr>
        <p:spPr>
          <a:xfrm>
            <a:off x="7383825" y="987750"/>
            <a:ext cx="1801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</a:rPr>
              <a:t>Here you will save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</a:rPr>
              <a:t>your dataloader/dataset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</a:rPr>
              <a:t>classes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79" name="Google Shape;179;p26"/>
          <p:cNvSpPr txBox="1"/>
          <p:nvPr/>
        </p:nvSpPr>
        <p:spPr>
          <a:xfrm>
            <a:off x="7541550" y="1704875"/>
            <a:ext cx="180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</a:rPr>
              <a:t>Here you will save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</a:rPr>
              <a:t>your actual dataset(s)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81" name="Google Shape;181;p26"/>
          <p:cNvSpPr txBox="1"/>
          <p:nvPr/>
        </p:nvSpPr>
        <p:spPr>
          <a:xfrm>
            <a:off x="7549350" y="2379975"/>
            <a:ext cx="1801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2"/>
                </a:solidFill>
              </a:rPr>
              <a:t>Here you will save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2"/>
                </a:solidFill>
              </a:rPr>
              <a:t>your architectures (PyTorch)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7261475" y="3103675"/>
            <a:ext cx="1801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</a:rPr>
              <a:t>Here you will save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</a:rPr>
              <a:t>utils that support your code (e.g., scripts/visualization etc)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87" name="Google Shape;187;p26"/>
          <p:cNvSpPr txBox="1"/>
          <p:nvPr/>
        </p:nvSpPr>
        <p:spPr>
          <a:xfrm>
            <a:off x="5166475" y="4774200"/>
            <a:ext cx="18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</a:rPr>
              <a:t>T</a:t>
            </a:r>
            <a:r>
              <a:rPr lang="it" sz="1200">
                <a:solidFill>
                  <a:schemeClr val="dk2"/>
                </a:solidFill>
              </a:rPr>
              <a:t>raining logic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88" name="Google Shape;188;p26"/>
          <p:cNvSpPr txBox="1"/>
          <p:nvPr/>
        </p:nvSpPr>
        <p:spPr>
          <a:xfrm>
            <a:off x="7287925" y="4069300"/>
            <a:ext cx="18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</a:rPr>
              <a:t>E</a:t>
            </a:r>
            <a:r>
              <a:rPr lang="it" sz="1200">
                <a:solidFill>
                  <a:schemeClr val="dk2"/>
                </a:solidFill>
              </a:rPr>
              <a:t>val logic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89" name="Google Shape;189;p26"/>
          <p:cNvSpPr txBox="1"/>
          <p:nvPr/>
        </p:nvSpPr>
        <p:spPr>
          <a:xfrm>
            <a:off x="93725" y="4606600"/>
            <a:ext cx="568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it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https://github.com/FarInHeight/lab-project-skeleton</a:t>
            </a:r>
            <a:endParaRPr/>
          </a:p>
        </p:txBody>
      </p:sp>
      <p:cxnSp>
        <p:nvCxnSpPr>
          <p:cNvPr id="190" name="Google Shape;190;p26"/>
          <p:cNvCxnSpPr/>
          <p:nvPr/>
        </p:nvCxnSpPr>
        <p:spPr>
          <a:xfrm>
            <a:off x="5608925" y="3739275"/>
            <a:ext cx="1065000" cy="95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" name="Google Shape;191;p26"/>
          <p:cNvSpPr txBox="1"/>
          <p:nvPr/>
        </p:nvSpPr>
        <p:spPr>
          <a:xfrm>
            <a:off x="6673975" y="4391351"/>
            <a:ext cx="1801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</a:rPr>
              <a:t>F</a:t>
            </a:r>
            <a:r>
              <a:rPr lang="it" sz="1200">
                <a:solidFill>
                  <a:schemeClr val="dk2"/>
                </a:solidFill>
              </a:rPr>
              <a:t>ile containing the pip packages you installed (for reproducibility)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475" y="1346775"/>
            <a:ext cx="5307151" cy="2772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651" y="675674"/>
            <a:ext cx="6632648" cy="102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99" name="Google Shape;199;p27"/>
          <p:cNvSpPr/>
          <p:nvPr/>
        </p:nvSpPr>
        <p:spPr>
          <a:xfrm rot="-5400000">
            <a:off x="5632650" y="328125"/>
            <a:ext cx="548700" cy="3204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7"/>
          <p:cNvSpPr txBox="1"/>
          <p:nvPr/>
        </p:nvSpPr>
        <p:spPr>
          <a:xfrm>
            <a:off x="6045687" y="213975"/>
            <a:ext cx="274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Step 1: Fork the project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1" name="Google Shape;201;p27"/>
          <p:cNvSpPr txBox="1"/>
          <p:nvPr/>
        </p:nvSpPr>
        <p:spPr>
          <a:xfrm>
            <a:off x="3645300" y="2230100"/>
            <a:ext cx="3624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Step 2: Name your repository (e.g., faimdl-lab3)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2" name="Google Shape;202;p27"/>
          <p:cNvSpPr txBox="1"/>
          <p:nvPr/>
        </p:nvSpPr>
        <p:spPr>
          <a:xfrm>
            <a:off x="740225" y="3579075"/>
            <a:ext cx="22359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3" name="Google Shape;203;p27"/>
          <p:cNvSpPr txBox="1"/>
          <p:nvPr/>
        </p:nvSpPr>
        <p:spPr>
          <a:xfrm>
            <a:off x="5329050" y="3705825"/>
            <a:ext cx="369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Step 3: Copy the link to the repo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4" name="Google Shape;204;p27"/>
          <p:cNvSpPr txBox="1"/>
          <p:nvPr>
            <p:ph type="title"/>
          </p:nvPr>
        </p:nvSpPr>
        <p:spPr>
          <a:xfrm>
            <a:off x="311700" y="158475"/>
            <a:ext cx="531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Github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175" y="1735750"/>
            <a:ext cx="3102825" cy="2349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175" y="4122300"/>
            <a:ext cx="5139623" cy="9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7"/>
          <p:cNvSpPr/>
          <p:nvPr/>
        </p:nvSpPr>
        <p:spPr>
          <a:xfrm>
            <a:off x="5508225" y="4436425"/>
            <a:ext cx="471300" cy="393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8" name="Google Shape;208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90475" y="4122300"/>
            <a:ext cx="1769241" cy="9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68425" y="90300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15" name="Google Shape;215;p28"/>
          <p:cNvSpPr txBox="1"/>
          <p:nvPr/>
        </p:nvSpPr>
        <p:spPr>
          <a:xfrm>
            <a:off x="381925" y="232850"/>
            <a:ext cx="8468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Step 4: Use CMD/Terminal to clone the repository you forked (you may have to install git if it says “command not found”)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6" name="Google Shape;216;p28"/>
          <p:cNvSpPr txBox="1"/>
          <p:nvPr/>
        </p:nvSpPr>
        <p:spPr>
          <a:xfrm>
            <a:off x="412675" y="1403075"/>
            <a:ext cx="75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Step 5: Open the folder on your favourite code editor (e.g., VSCode)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17" name="Google Shape;21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225" y="1864775"/>
            <a:ext cx="5282046" cy="297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942" y="990612"/>
            <a:ext cx="6213083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24" name="Google Shape;224;p29"/>
          <p:cNvSpPr txBox="1"/>
          <p:nvPr/>
        </p:nvSpPr>
        <p:spPr>
          <a:xfrm>
            <a:off x="600575" y="406075"/>
            <a:ext cx="599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Step 6: Make the changes to the files, add new files etc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25" name="Google Shape;22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48250"/>
            <a:ext cx="4939411" cy="341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5100" y="2661075"/>
            <a:ext cx="3420949" cy="76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32" name="Google Shape;232;p30"/>
          <p:cNvSpPr txBox="1"/>
          <p:nvPr/>
        </p:nvSpPr>
        <p:spPr>
          <a:xfrm>
            <a:off x="72150" y="1026050"/>
            <a:ext cx="801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Step 7: Use add, commit and push to put your files back on github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3" name="Google Shape;233;p30"/>
          <p:cNvSpPr txBox="1"/>
          <p:nvPr/>
        </p:nvSpPr>
        <p:spPr>
          <a:xfrm>
            <a:off x="390525" y="3637975"/>
            <a:ext cx="8012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solidFill>
                  <a:schemeClr val="dk2"/>
                </a:solidFill>
                <a:highlight>
                  <a:srgbClr val="FFFF00"/>
                </a:highlight>
              </a:rPr>
              <a:t>NOTE: Do not push any dataset on Github!!!</a:t>
            </a:r>
            <a:endParaRPr sz="2500">
              <a:solidFill>
                <a:schemeClr val="dk2"/>
              </a:solidFill>
              <a:highlight>
                <a:srgbClr val="FFFF00"/>
              </a:highlight>
            </a:endParaRPr>
          </a:p>
        </p:txBody>
      </p:sp>
      <p:sp>
        <p:nvSpPr>
          <p:cNvPr id="234" name="Google Shape;234;p30"/>
          <p:cNvSpPr txBox="1"/>
          <p:nvPr/>
        </p:nvSpPr>
        <p:spPr>
          <a:xfrm>
            <a:off x="5903575" y="4643725"/>
            <a:ext cx="325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5" name="Google Shape;235;p30"/>
          <p:cNvSpPr/>
          <p:nvPr/>
        </p:nvSpPr>
        <p:spPr>
          <a:xfrm>
            <a:off x="6601175" y="1895425"/>
            <a:ext cx="822600" cy="187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465" y="1653623"/>
            <a:ext cx="7151311" cy="135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0"/>
          <p:cNvSpPr/>
          <p:nvPr/>
        </p:nvSpPr>
        <p:spPr>
          <a:xfrm>
            <a:off x="4427900" y="1895425"/>
            <a:ext cx="2995800" cy="1875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0"/>
          <p:cNvSpPr/>
          <p:nvPr/>
        </p:nvSpPr>
        <p:spPr>
          <a:xfrm>
            <a:off x="4427900" y="1707925"/>
            <a:ext cx="914700" cy="1875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0"/>
          <p:cNvSpPr/>
          <p:nvPr/>
        </p:nvSpPr>
        <p:spPr>
          <a:xfrm>
            <a:off x="4427900" y="2766700"/>
            <a:ext cx="914700" cy="1875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45" name="Google Shape;245;p31"/>
          <p:cNvSpPr txBox="1"/>
          <p:nvPr/>
        </p:nvSpPr>
        <p:spPr>
          <a:xfrm>
            <a:off x="1112025" y="1026050"/>
            <a:ext cx="7295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Once you finished to setup your project locally and pushed everything on Github you should be able to see your new files in the repository!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Now you can open Colab, clone your repo, download the datasets (on colab) and run your code.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46" name="Google Shape;24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25" y="1159575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975" y="2382903"/>
            <a:ext cx="710600" cy="71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Your turn!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Calibri"/>
                <a:ea typeface="Calibri"/>
                <a:cs typeface="Calibri"/>
                <a:sym typeface="Calibri"/>
              </a:rPr>
              <a:t>It’s time to setup your project!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it" sz="1500">
                <a:latin typeface="Calibri"/>
                <a:ea typeface="Calibri"/>
                <a:cs typeface="Calibri"/>
                <a:sym typeface="Calibri"/>
              </a:rPr>
              <a:t>At this link </a:t>
            </a:r>
            <a:r>
              <a:rPr lang="it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https://github.com/FarInHeight/lab-project-skeleton</a:t>
            </a:r>
            <a:r>
              <a:rPr lang="it" sz="1500">
                <a:latin typeface="Calibri"/>
                <a:ea typeface="Calibri"/>
                <a:cs typeface="Calibri"/>
                <a:sym typeface="Calibri"/>
              </a:rPr>
              <a:t> you can find the starting repo (TO FORK). 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it" sz="1500">
                <a:latin typeface="Calibri"/>
                <a:ea typeface="Calibri"/>
                <a:cs typeface="Calibri"/>
                <a:sym typeface="Calibri"/>
              </a:rPr>
              <a:t>Fork our repo and then clone your repo on your computer.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it" sz="1500">
                <a:latin typeface="Calibri"/>
                <a:ea typeface="Calibri"/>
                <a:cs typeface="Calibri"/>
                <a:sym typeface="Calibri"/>
              </a:rPr>
              <a:t>Take your code from Lab1/Lab2 and populate the repo with Python files in the right directories.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it" sz="1500">
                <a:latin typeface="Calibri"/>
                <a:ea typeface="Calibri"/>
                <a:cs typeface="Calibri"/>
                <a:sym typeface="Calibri"/>
              </a:rPr>
              <a:t>Add visualization logic.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it" sz="1500">
                <a:latin typeface="Calibri"/>
                <a:ea typeface="Calibri"/>
                <a:cs typeface="Calibri"/>
                <a:sym typeface="Calibri"/>
              </a:rPr>
              <a:t>Test your code on Colab.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255" name="Google Shape;25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2748" y="290700"/>
            <a:ext cx="804592" cy="727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2"/>
          <p:cNvSpPr txBox="1"/>
          <p:nvPr/>
        </p:nvSpPr>
        <p:spPr>
          <a:xfrm>
            <a:off x="270650" y="3530400"/>
            <a:ext cx="8667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Notebook @ </a:t>
            </a:r>
            <a:r>
              <a:rPr lang="it" sz="1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https://colab.research.google.com/drive/1sLHv8x3p_SOI2Y6wo5sf1XaId329HxH4?usp=sharing</a:t>
            </a:r>
            <a:endParaRPr sz="17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